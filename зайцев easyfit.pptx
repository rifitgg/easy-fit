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7" r:id="rId9"/>
    <p:sldId id="268" r:id="rId10"/>
    <p:sldId id="269" r:id="rId11"/>
    <p:sldId id="270" r:id="rId12"/>
    <p:sldId id="274" r:id="rId13"/>
    <p:sldId id="275" r:id="rId14"/>
    <p:sldId id="276" r:id="rId15"/>
    <p:sldId id="271" r:id="rId16"/>
    <p:sldId id="272" r:id="rId17"/>
    <p:sldId id="273" r:id="rId18"/>
    <p:sldId id="261" r:id="rId19"/>
    <p:sldId id="264" r:id="rId20"/>
    <p:sldId id="265" r:id="rId21"/>
    <p:sldId id="26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406D2-758F-4F5C-A5F3-22C72EB7419E}" v="1541" dt="2026-02-28T06:07:07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2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9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92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2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8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7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5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0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0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2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9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53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ru-RU" sz="3400">
                <a:ea typeface="+mj-lt"/>
                <a:cs typeface="+mj-lt"/>
              </a:rPr>
              <a:t>Каталог упражнений с возможностью создания своих тренировок</a:t>
            </a:r>
            <a:endParaRPr lang="ru-RU" sz="34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1800"/>
              <a:t>Выполнил студент 4 курса ИСИП Зайцев Ярослав</a:t>
            </a:r>
            <a:r>
              <a:rPr lang="ru-RU" sz="1800" dirty="0"/>
              <a:t> </a:t>
            </a:r>
            <a:endParaRPr lang="ru-RU" sz="18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FEE5E04-44F1-72B4-93B7-FA62D06DDC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0" r="25061" b="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  <p:pic>
        <p:nvPicPr>
          <p:cNvPr id="5" name="Рисунок 4" descr="Изображение выглядит как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FB8C79-853B-5E1F-3D3D-6144924B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486" y="146891"/>
            <a:ext cx="1182402" cy="114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22B63E-A9C2-9622-3E75-C304F048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Easyfit</a:t>
            </a:r>
            <a:r>
              <a:rPr lang="ru-RU" dirty="0"/>
              <a:t> - ваш путь к здоровому образу жизни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6A452F-CDD0-A3C3-F07D-586A5B233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Consolas"/>
              </a:rPr>
              <a:t>это мобильное приложение для тех, кто хочет тренироваться осознанно и видеть свой прогресс. Неважно, занимаешься ты дома, в зале или на улице — </a:t>
            </a:r>
            <a:r>
              <a:rPr lang="ru-RU" sz="2400" err="1">
                <a:solidFill>
                  <a:srgbClr val="000000"/>
                </a:solidFill>
                <a:latin typeface="Consolas"/>
              </a:rPr>
              <a:t>EasyFit</a:t>
            </a:r>
            <a:r>
              <a:rPr lang="ru-RU" sz="2400" dirty="0">
                <a:solidFill>
                  <a:srgbClr val="000000"/>
                </a:solidFill>
                <a:latin typeface="Consolas"/>
              </a:rPr>
              <a:t> поможет составить программу, отслеживать результаты и не забывать о тренировках</a:t>
            </a:r>
            <a:endParaRPr lang="ru-RU" sz="2400" dirty="0">
              <a:solidFill>
                <a:srgbClr val="00000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7364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C6E45-5E5A-3D58-7D12-D4637693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умеет </a:t>
            </a:r>
            <a:r>
              <a:rPr lang="ru-RU" dirty="0" err="1"/>
              <a:t>easyfit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10082-6049-BAF3-CB80-8CF18CD91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42618"/>
            <a:ext cx="10691265" cy="468551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dirty="0"/>
              <a:t>Каталог из 100 упражнений - каждой с пошаговой инструкцией, указанием групп мышц, типа требования оборудования</a:t>
            </a:r>
            <a:r>
              <a:rPr lang="ru-RU"/>
              <a:t> и уровня сложности выполнения </a:t>
            </a:r>
          </a:p>
          <a:p>
            <a:r>
              <a:rPr lang="ru-RU" dirty="0"/>
              <a:t>Создание собственных программ тренировок, включая режим выполнения тренировки, </a:t>
            </a:r>
            <a:r>
              <a:rPr lang="ru-RU"/>
              <a:t>отметки подходов и времени отдыха</a:t>
            </a:r>
          </a:p>
          <a:p>
            <a:r>
              <a:rPr lang="ru-RU" dirty="0"/>
              <a:t>Календарь и планирование тренировок - назначения тренировки на конкретные даты и время, когда потребуется приложение напомнит и пришёл </a:t>
            </a:r>
            <a:r>
              <a:rPr lang="ru-RU" err="1"/>
              <a:t>push</a:t>
            </a:r>
            <a:r>
              <a:rPr lang="ru-RU"/>
              <a:t> уведомление</a:t>
            </a:r>
            <a:endParaRPr lang="ru-RU" dirty="0"/>
          </a:p>
          <a:p>
            <a:r>
              <a:rPr lang="ru-RU" dirty="0"/>
              <a:t>Подробная </a:t>
            </a:r>
            <a:r>
              <a:rPr lang="ru-RU" err="1"/>
              <a:t>статисика</a:t>
            </a:r>
            <a:r>
              <a:rPr lang="ru-RU" dirty="0"/>
              <a:t> - </a:t>
            </a:r>
            <a:r>
              <a:rPr lang="ru-RU" err="1"/>
              <a:t>колличество</a:t>
            </a:r>
            <a:r>
              <a:rPr lang="ru-RU" dirty="0"/>
              <a:t> тренировок, группы мышц калорий, прогресс и </a:t>
            </a:r>
            <a:r>
              <a:rPr lang="ru-RU"/>
              <a:t>стрик - всё на одном дашборде</a:t>
            </a:r>
            <a:endParaRPr lang="ru-RU" dirty="0"/>
          </a:p>
          <a:p>
            <a:r>
              <a:rPr lang="ru-RU" dirty="0"/>
              <a:t>Трекер воды</a:t>
            </a:r>
          </a:p>
          <a:p>
            <a:r>
              <a:rPr lang="ru-RU" dirty="0"/>
              <a:t>Калькулятор ИМТ</a:t>
            </a:r>
          </a:p>
          <a:p>
            <a:r>
              <a:rPr lang="ru-RU" dirty="0"/>
              <a:t>Сообщество - возможность публикации своих тренировок, просматривать программы других пользователей ставить лайки и добавлять к себе </a:t>
            </a:r>
          </a:p>
        </p:txBody>
      </p:sp>
    </p:spTree>
    <p:extLst>
      <p:ext uri="{BB962C8B-B14F-4D97-AF65-F5344CB8AC3E}">
        <p14:creationId xmlns:p14="http://schemas.microsoft.com/office/powerpoint/2010/main" val="2906776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907BA-5B41-9F4A-2DAD-7489CAD88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проект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DF5CC0-2895-0121-1C5F-AC38D4A42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3200" dirty="0">
                <a:ea typeface="+mn-lt"/>
                <a:cs typeface="+mn-lt"/>
              </a:rPr>
              <a:t>Переход к цифровому фитнесу продолжается: рынок фитнес-приложений быстро растёт, пользователи всё чаще требуют персонализации и удобства использования — поэтому приложение-каталог с конструктором тренировок решает реально существующие потребности и имеет сильный потенциал в дальнейшем распространении.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324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34AA2-31E6-A61B-E57A-18912D21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данным ВОЗ</a:t>
            </a:r>
          </a:p>
        </p:txBody>
      </p:sp>
      <p:pic>
        <p:nvPicPr>
          <p:cNvPr id="5" name="Объект 4" descr="Изображение выглядит как текст, одежда, обувь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FC4ACE-6CD4-7FC8-92C4-3F67079E0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208" y="1997560"/>
            <a:ext cx="9715500" cy="285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39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DFAB2-7F25-4F8E-DA86-B652D907E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Эффективность фитнес приложений</a:t>
            </a:r>
          </a:p>
        </p:txBody>
      </p:sp>
      <p:pic>
        <p:nvPicPr>
          <p:cNvPr id="4" name="Объект 3" descr="Изображение выглядит как текст, логотип, снимок экрана, Брен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B6824F-CE3B-066A-E39D-F2D5E95DE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409" y="2535443"/>
            <a:ext cx="103917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71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A8B9ED-4476-44C5-9209-0146C28B5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63F99-7D18-C0E0-F593-F0AEC6A03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3606" y="1066800"/>
            <a:ext cx="3758293" cy="35051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 err="1"/>
              <a:t>Данные</a:t>
            </a:r>
            <a:r>
              <a:rPr lang="en-US" sz="3400" dirty="0"/>
              <a:t> </a:t>
            </a:r>
            <a:r>
              <a:rPr lang="en-US" sz="3400" dirty="0" err="1"/>
              <a:t>об</a:t>
            </a:r>
            <a:r>
              <a:rPr lang="en-US" sz="3400" dirty="0"/>
              <a:t> </a:t>
            </a:r>
            <a:r>
              <a:rPr lang="en-US" sz="3400" dirty="0" err="1"/>
              <a:t>использовании</a:t>
            </a:r>
            <a:r>
              <a:rPr lang="en-US" sz="3400" dirty="0"/>
              <a:t> </a:t>
            </a:r>
            <a:r>
              <a:rPr lang="en-US" sz="3400" dirty="0" err="1"/>
              <a:t>подобных</a:t>
            </a:r>
            <a:r>
              <a:rPr lang="en-US" sz="3400" dirty="0"/>
              <a:t> </a:t>
            </a:r>
            <a:r>
              <a:rPr lang="en-US" sz="3400" dirty="0" err="1"/>
              <a:t>сервисов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34567-6096-4347-8107-EC8D2AEF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зображение выглядит как текст, снимок экрана, Прямоугольн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B4B74A-883B-EF2F-FACD-36F980DFD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07" y="1066213"/>
            <a:ext cx="3078240" cy="2308679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365757-541E-CC67-61EA-A46E3343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003" y="1044436"/>
            <a:ext cx="3116258" cy="233719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диаграмм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F637AE-6CC6-93B7-280F-4970F5479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07" y="3537183"/>
            <a:ext cx="3078240" cy="2308679"/>
          </a:xfrm>
          <a:prstGeom prst="rect">
            <a:avLst/>
          </a:prstGeom>
        </p:spPr>
      </p:pic>
      <p:pic>
        <p:nvPicPr>
          <p:cNvPr id="4" name="Объект 3" descr="Изображение выглядит как текст, диаграмма, снимок экран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4EFFA1-EE99-3EE7-8F36-B4A6832ED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975003" y="3537183"/>
            <a:ext cx="3116258" cy="233719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39C108-ED63-4645-9FC8-D00CC583D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12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51AA4-C5A8-FB10-0FD4-556277DA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разработки </a:t>
            </a:r>
          </a:p>
        </p:txBody>
      </p:sp>
      <p:pic>
        <p:nvPicPr>
          <p:cNvPr id="4" name="Объект 3" descr="Изображение выглядит как Шрифт, Графика, логотип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620D66-9FA1-06C5-3C75-175785515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425" y="1570668"/>
            <a:ext cx="2151886" cy="2197790"/>
          </a:xfrm>
          <a:prstGeom prst="rect">
            <a:avLst/>
          </a:prstGeom>
        </p:spPr>
      </p:pic>
      <p:pic>
        <p:nvPicPr>
          <p:cNvPr id="5" name="Рисунок 4" descr="Изображение выглядит как Графика, Шрифт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AE1B19-63BF-E02F-EF45-ED8D61555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627" y="1570821"/>
            <a:ext cx="2302527" cy="2201540"/>
          </a:xfrm>
          <a:prstGeom prst="rect">
            <a:avLst/>
          </a:prstGeom>
        </p:spPr>
      </p:pic>
      <p:pic>
        <p:nvPicPr>
          <p:cNvPr id="6" name="Рисунок 5" descr="Изображение логотипа">
            <a:extLst>
              <a:ext uri="{FF2B5EF4-FFF2-40B4-BE49-F238E27FC236}">
                <a16:creationId xmlns:a16="http://schemas.microsoft.com/office/drawing/2014/main" id="{8F8F9331-5B6B-4438-B4C3-4EA46955E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421" y="1432193"/>
            <a:ext cx="2288291" cy="2341086"/>
          </a:xfrm>
          <a:prstGeom prst="rect">
            <a:avLst/>
          </a:prstGeom>
        </p:spPr>
      </p:pic>
      <p:pic>
        <p:nvPicPr>
          <p:cNvPr id="7" name="Рисунок 6" descr="Изображение логотипа">
            <a:extLst>
              <a:ext uri="{FF2B5EF4-FFF2-40B4-BE49-F238E27FC236}">
                <a16:creationId xmlns:a16="http://schemas.microsoft.com/office/drawing/2014/main" id="{D55E30C8-845E-8619-62DB-B6AD9C811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5793" y="1533180"/>
            <a:ext cx="2276822" cy="2240098"/>
          </a:xfrm>
          <a:prstGeom prst="rect">
            <a:avLst/>
          </a:prstGeom>
        </p:spPr>
      </p:pic>
      <p:pic>
        <p:nvPicPr>
          <p:cNvPr id="8" name="Рисунок 7" descr="Изображение выглядит как Графика, круг, искусство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AF2B7C-56C8-89FF-9674-AB661AAA7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147" y="3901111"/>
            <a:ext cx="3082886" cy="2195588"/>
          </a:xfrm>
          <a:prstGeom prst="rect">
            <a:avLst/>
          </a:prstGeom>
        </p:spPr>
      </p:pic>
      <p:pic>
        <p:nvPicPr>
          <p:cNvPr id="9" name="Рисунок 8" descr="Логотип программы PostgreSQL">
            <a:extLst>
              <a:ext uri="{FF2B5EF4-FFF2-40B4-BE49-F238E27FC236}">
                <a16:creationId xmlns:a16="http://schemas.microsoft.com/office/drawing/2014/main" id="{BD2A4725-3FA9-2158-433A-42E8A48970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9767" y="3966072"/>
            <a:ext cx="2120747" cy="2166651"/>
          </a:xfrm>
          <a:prstGeom prst="rect">
            <a:avLst/>
          </a:prstGeom>
        </p:spPr>
      </p:pic>
      <p:pic>
        <p:nvPicPr>
          <p:cNvPr id="10" name="Рисунок 9" descr="Picture background">
            <a:extLst>
              <a:ext uri="{FF2B5EF4-FFF2-40B4-BE49-F238E27FC236}">
                <a16:creationId xmlns:a16="http://schemas.microsoft.com/office/drawing/2014/main" id="{652CB3EF-0A08-E7D3-3E26-07CBCF34C3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7512" y="4030336"/>
            <a:ext cx="2739194" cy="192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04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053B0-E596-0A91-394F-74B694DE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 архитектуры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A7D9D6-1B9C-EA0C-9E21-EA2213FCB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/>
              <a:t>Приложение </a:t>
            </a:r>
            <a:r>
              <a:rPr lang="ru-RU" sz="2400" dirty="0" err="1"/>
              <a:t>EasyFit</a:t>
            </a:r>
            <a:r>
              <a:rPr lang="ru-RU" sz="2400" dirty="0"/>
              <a:t> построено по принципу модульного монолита — это единое приложение, где весь код </a:t>
            </a:r>
            <a:r>
              <a:rPr lang="ru-RU" sz="2400" dirty="0" err="1"/>
              <a:t>backend</a:t>
            </a:r>
            <a:r>
              <a:rPr lang="ru-RU" sz="2400" dirty="0"/>
              <a:t>-а работает в одном процессе Node.js, но логически разделён на независимые модули (маршруты, </a:t>
            </a:r>
            <a:r>
              <a:rPr lang="ru-RU" sz="2400" dirty="0" err="1"/>
              <a:t>мидлвары</a:t>
            </a:r>
            <a:r>
              <a:rPr lang="ru-RU" sz="2400" dirty="0"/>
              <a:t>, слой данных).</a:t>
            </a:r>
            <a:endParaRPr lang="ru-RU" sz="2400" dirty="0">
              <a:solidFill>
                <a:srgbClr val="D0D3DE"/>
              </a:solidFill>
              <a:highlight>
                <a:srgbClr val="1E212B"/>
              </a:highlight>
              <a:latin typeface="Consolas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8972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35DDE-2EF0-2937-5712-7B660C0C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не микросервисы или чистый монолит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9B35AC-0FE3-4F86-A239-16A9C4508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56739"/>
            <a:ext cx="5155290" cy="36756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1800" dirty="0"/>
              <a:t>- Масштаб проекта не требует разделения на отдельные сервисы — один бэкенд обслуживает все функции (авторизация, тренировки, упражнения, сообщество, вода)</a:t>
            </a:r>
          </a:p>
          <a:p>
            <a:r>
              <a:rPr lang="ru-RU" sz="1800" dirty="0"/>
              <a:t>- Единый процесс = простота развёртывания (один PM2-процесс), отладки и поддержки</a:t>
            </a:r>
          </a:p>
          <a:p>
            <a:r>
              <a:rPr lang="ru-RU" sz="1800" dirty="0"/>
              <a:t>- Нет межсервисной коммуникации — все модули обращаются к одной БД </a:t>
            </a:r>
            <a:r>
              <a:rPr lang="ru-RU" sz="1800" err="1"/>
              <a:t>PostgreSQL</a:t>
            </a:r>
            <a:r>
              <a:rPr lang="ru-RU" sz="1800" dirty="0"/>
              <a:t> напрямую через общий пул соединений</a:t>
            </a:r>
          </a:p>
          <a:p>
            <a:r>
              <a:rPr lang="ru-RU" sz="1800" dirty="0"/>
              <a:t>- Для текущей нагрузки (один сервер, один разработчик) микросервисы добавили бы ненужную сложность</a:t>
            </a:r>
            <a:endParaRPr lang="ru-RU" sz="180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5F7BD-7642-FF57-AC31-AF812B7B1E6D}"/>
              </a:ext>
            </a:extLst>
          </p:cNvPr>
          <p:cNvSpPr txBox="1"/>
          <p:nvPr/>
        </p:nvSpPr>
        <p:spPr>
          <a:xfrm>
            <a:off x="6353059" y="2033531"/>
            <a:ext cx="504021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разделён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изолированные</a:t>
            </a:r>
            <a:r>
              <a:rPr lang="en-US" dirty="0"/>
              <a:t> </a:t>
            </a:r>
            <a:r>
              <a:rPr lang="en-US" dirty="0" err="1"/>
              <a:t>модули</a:t>
            </a:r>
            <a:r>
              <a:rPr lang="en-US" dirty="0"/>
              <a:t> —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маршрут</a:t>
            </a:r>
            <a:r>
              <a:rPr lang="en-US" dirty="0"/>
              <a:t> (`auth.js`, `workouts.js`, `exercises.js`, `community.js`) </a:t>
            </a:r>
            <a:r>
              <a:rPr lang="en-US" dirty="0" err="1"/>
              <a:t>самодостаточен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endParaRPr lang="en-US" dirty="0"/>
          </a:p>
          <a:p>
            <a:r>
              <a:rPr lang="en-US" dirty="0"/>
              <a:t>- </a:t>
            </a:r>
            <a:r>
              <a:rPr lang="en-US" err="1"/>
              <a:t>Мидлвар</a:t>
            </a:r>
            <a:r>
              <a:rPr lang="en-US" dirty="0"/>
              <a:t> </a:t>
            </a:r>
            <a:r>
              <a:rPr lang="en-US" err="1"/>
              <a:t>авторизации</a:t>
            </a:r>
            <a:r>
              <a:rPr lang="en-US" dirty="0"/>
              <a:t> </a:t>
            </a:r>
            <a:r>
              <a:rPr lang="en-US" err="1"/>
              <a:t>вынесен</a:t>
            </a:r>
            <a:r>
              <a:rPr lang="en-US" dirty="0"/>
              <a:t> </a:t>
            </a:r>
            <a:r>
              <a:rPr lang="en-US" err="1"/>
              <a:t>отдельно</a:t>
            </a:r>
            <a:r>
              <a:rPr lang="en-US" dirty="0"/>
              <a:t> и </a:t>
            </a:r>
            <a:r>
              <a:rPr lang="en-US" err="1"/>
              <a:t>подключается</a:t>
            </a:r>
            <a:r>
              <a:rPr lang="en-US" dirty="0"/>
              <a:t> </a:t>
            </a:r>
            <a:r>
              <a:rPr lang="en-US" err="1"/>
              <a:t>декларативно</a:t>
            </a:r>
            <a:endParaRPr lang="en-US"/>
          </a:p>
          <a:p>
            <a:r>
              <a:rPr lang="en-US" dirty="0"/>
              <a:t>- </a:t>
            </a:r>
            <a:r>
              <a:rPr lang="en-US" err="1"/>
              <a:t>Слой</a:t>
            </a:r>
            <a:r>
              <a:rPr lang="en-US" dirty="0"/>
              <a:t> </a:t>
            </a:r>
            <a:r>
              <a:rPr lang="en-US" err="1"/>
              <a:t>данных</a:t>
            </a:r>
            <a:r>
              <a:rPr lang="en-US" dirty="0"/>
              <a:t> </a:t>
            </a:r>
            <a:r>
              <a:rPr lang="en-US" err="1"/>
              <a:t>отделён</a:t>
            </a:r>
            <a:r>
              <a:rPr lang="en-US" dirty="0"/>
              <a:t> </a:t>
            </a:r>
            <a:r>
              <a:rPr lang="en-US" err="1"/>
              <a:t>от</a:t>
            </a:r>
            <a:r>
              <a:rPr lang="en-US" dirty="0"/>
              <a:t> </a:t>
            </a:r>
            <a:r>
              <a:rPr lang="en-US" err="1"/>
              <a:t>бизнес-логики</a:t>
            </a:r>
            <a:endParaRPr lang="en-US"/>
          </a:p>
          <a:p>
            <a:r>
              <a:rPr lang="en-US" dirty="0"/>
              <a:t>- </a:t>
            </a:r>
            <a:r>
              <a:rPr lang="en-US" err="1"/>
              <a:t>При</a:t>
            </a:r>
            <a:r>
              <a:rPr lang="en-US" dirty="0"/>
              <a:t> </a:t>
            </a:r>
            <a:r>
              <a:rPr lang="en-US" err="1"/>
              <a:t>необходимости</a:t>
            </a:r>
            <a:r>
              <a:rPr lang="en-US" dirty="0"/>
              <a:t> </a:t>
            </a:r>
            <a:r>
              <a:rPr lang="en-US" err="1"/>
              <a:t>любой</a:t>
            </a:r>
            <a:r>
              <a:rPr lang="en-US" dirty="0"/>
              <a:t> </a:t>
            </a:r>
            <a:r>
              <a:rPr lang="en-US" err="1"/>
              <a:t>модуль</a:t>
            </a:r>
            <a:r>
              <a:rPr lang="en-US" dirty="0"/>
              <a:t> </a:t>
            </a:r>
            <a:r>
              <a:rPr lang="en-US" err="1"/>
              <a:t>можно</a:t>
            </a:r>
            <a:r>
              <a:rPr lang="en-US" dirty="0"/>
              <a:t> </a:t>
            </a:r>
            <a:r>
              <a:rPr lang="en-US" err="1"/>
              <a:t>вынести</a:t>
            </a:r>
            <a:r>
              <a:rPr lang="en-US" dirty="0"/>
              <a:t> в </a:t>
            </a:r>
            <a:r>
              <a:rPr lang="en-US" err="1"/>
              <a:t>отдельный</a:t>
            </a:r>
            <a:r>
              <a:rPr lang="en-US" dirty="0"/>
              <a:t> </a:t>
            </a:r>
            <a:r>
              <a:rPr lang="en-US" err="1"/>
              <a:t>микросервис</a:t>
            </a:r>
            <a:r>
              <a:rPr lang="en-US" dirty="0"/>
              <a:t> </a:t>
            </a:r>
            <a:r>
              <a:rPr lang="en-US" err="1"/>
              <a:t>без</a:t>
            </a:r>
            <a:r>
              <a:rPr lang="en-US" dirty="0"/>
              <a:t> </a:t>
            </a:r>
            <a:r>
              <a:rPr lang="en-US" err="1"/>
              <a:t>переписывания</a:t>
            </a:r>
            <a:r>
              <a:rPr lang="en-US" dirty="0"/>
              <a:t> </a:t>
            </a:r>
            <a:r>
              <a:rPr lang="en-US" err="1"/>
              <a:t>остальных</a:t>
            </a:r>
            <a:endParaRPr lang="en-US"/>
          </a:p>
          <a:p>
            <a:endParaRPr lang="en-US"/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565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25DAD-5552-62B6-C370-1F479D98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монолита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E1E1FC-F49B-F554-4B30-5AA8081FC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ru-RU" dirty="0"/>
              <a:t>Express (один процесс)</a:t>
            </a:r>
          </a:p>
          <a:p>
            <a:r>
              <a:rPr lang="ru-RU" dirty="0"/>
              <a:t>├── /</a:t>
            </a:r>
            <a:r>
              <a:rPr lang="ru-RU" dirty="0" err="1"/>
              <a:t>api</a:t>
            </a:r>
            <a:r>
              <a:rPr lang="ru-RU" dirty="0"/>
              <a:t>/</a:t>
            </a:r>
            <a:r>
              <a:rPr lang="ru-RU" dirty="0" err="1"/>
              <a:t>auth</a:t>
            </a:r>
            <a:r>
              <a:rPr lang="ru-RU" dirty="0"/>
              <a:t>         ← модуль авторизации</a:t>
            </a:r>
          </a:p>
          <a:p>
            <a:r>
              <a:rPr lang="ru-RU" dirty="0"/>
              <a:t>├── /</a:t>
            </a:r>
            <a:r>
              <a:rPr lang="ru-RU" dirty="0" err="1"/>
              <a:t>api</a:t>
            </a:r>
            <a:r>
              <a:rPr lang="ru-RU" dirty="0"/>
              <a:t>/</a:t>
            </a:r>
            <a:r>
              <a:rPr lang="ru-RU" dirty="0" err="1"/>
              <a:t>workouts</a:t>
            </a:r>
            <a:r>
              <a:rPr lang="ru-RU" dirty="0"/>
              <a:t>     ← модуль тренировок + вода + синхронизация</a:t>
            </a:r>
          </a:p>
          <a:p>
            <a:r>
              <a:rPr lang="ru-RU" dirty="0"/>
              <a:t>├── /</a:t>
            </a:r>
            <a:r>
              <a:rPr lang="ru-RU" dirty="0" err="1"/>
              <a:t>api</a:t>
            </a:r>
            <a:r>
              <a:rPr lang="ru-RU" dirty="0"/>
              <a:t>/</a:t>
            </a:r>
            <a:r>
              <a:rPr lang="ru-RU" dirty="0" err="1"/>
              <a:t>exercises</a:t>
            </a:r>
            <a:r>
              <a:rPr lang="ru-RU" dirty="0"/>
              <a:t>    ← модуль каталога упражнений</a:t>
            </a:r>
          </a:p>
          <a:p>
            <a:r>
              <a:rPr lang="ru-RU" dirty="0"/>
              <a:t>├── /</a:t>
            </a:r>
            <a:r>
              <a:rPr lang="ru-RU" dirty="0" err="1"/>
              <a:t>api</a:t>
            </a:r>
            <a:r>
              <a:rPr lang="ru-RU" dirty="0"/>
              <a:t>/</a:t>
            </a:r>
            <a:r>
              <a:rPr lang="ru-RU" dirty="0" err="1"/>
              <a:t>community</a:t>
            </a:r>
            <a:r>
              <a:rPr lang="ru-RU" dirty="0"/>
              <a:t>    ← модуль сообщества</a:t>
            </a:r>
          </a:p>
          <a:p>
            <a:r>
              <a:rPr lang="ru-RU" dirty="0"/>
              <a:t>├── </a:t>
            </a:r>
            <a:r>
              <a:rPr lang="ru-RU" dirty="0" err="1"/>
              <a:t>middleware</a:t>
            </a:r>
            <a:r>
              <a:rPr lang="ru-RU" dirty="0"/>
              <a:t>/</a:t>
            </a:r>
            <a:r>
              <a:rPr lang="ru-RU" dirty="0" err="1"/>
              <a:t>auth</a:t>
            </a:r>
            <a:r>
              <a:rPr lang="ru-RU" dirty="0"/>
              <a:t>    ← общий </a:t>
            </a:r>
            <a:r>
              <a:rPr lang="ru-RU" dirty="0" err="1"/>
              <a:t>мидлвар</a:t>
            </a:r>
            <a:endParaRPr lang="ru-RU" dirty="0"/>
          </a:p>
          <a:p>
            <a:r>
              <a:rPr lang="ru-RU" dirty="0"/>
              <a:t>└── </a:t>
            </a:r>
            <a:r>
              <a:rPr lang="ru-RU" dirty="0" err="1"/>
              <a:t>db</a:t>
            </a:r>
            <a:r>
              <a:rPr lang="ru-RU" dirty="0"/>
              <a:t>/</a:t>
            </a:r>
            <a:r>
              <a:rPr lang="ru-RU" dirty="0" err="1"/>
              <a:t>pool</a:t>
            </a:r>
            <a:r>
              <a:rPr lang="ru-RU" dirty="0"/>
              <a:t>           ← общий пул соединений </a:t>
            </a:r>
            <a:r>
              <a:rPr lang="ru-RU" dirty="0" err="1"/>
              <a:t>PostgreSQL</a:t>
            </a:r>
            <a:br>
              <a:rPr lang="ru-RU" dirty="0"/>
            </a:br>
            <a:r>
              <a:rPr lang="ru-RU" dirty="0"/>
              <a:t>На стороне клиента применяется аналогичный подход: единое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приложение с модульным разделением на слой данных (`</a:t>
            </a:r>
            <a:r>
              <a:rPr lang="ru-RU" dirty="0" err="1"/>
              <a:t>data</a:t>
            </a:r>
            <a:r>
              <a:rPr lang="ru-RU" dirty="0"/>
              <a:t>/`), компоненты (`</a:t>
            </a:r>
            <a:r>
              <a:rPr lang="ru-RU" dirty="0" err="1"/>
              <a:t>components</a:t>
            </a:r>
            <a:r>
              <a:rPr lang="ru-RU" dirty="0"/>
              <a:t>/`), экраны (`</a:t>
            </a:r>
            <a:r>
              <a:rPr lang="ru-RU" dirty="0" err="1"/>
              <a:t>app</a:t>
            </a:r>
            <a:r>
              <a:rPr lang="ru-RU" dirty="0"/>
              <a:t>/`) и хуки (`</a:t>
            </a:r>
            <a:r>
              <a:rPr lang="ru-RU" dirty="0" err="1"/>
              <a:t>hooks</a:t>
            </a:r>
            <a:r>
              <a:rPr lang="ru-RU" dirty="0"/>
              <a:t>/`)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270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77024-A0BA-79D3-5A8A-A8137C616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 и обоснования выбора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9D229E-EA69-34DB-F917-CB6356CA1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Проект использует двухуровневую архитектуру хранения </a:t>
            </a:r>
            <a:r>
              <a:rPr lang="ru-RU" dirty="0" err="1"/>
              <a:t>postgreSQL</a:t>
            </a:r>
            <a:r>
              <a:rPr lang="ru-RU" dirty="0"/>
              <a:t> (сервер), sqlite3 (клиент, локально)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3705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E6109-0010-99C1-9A73-62D7852D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ru-RU" dirty="0" err="1"/>
              <a:t>postgre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F0621B-9BFB-3A94-E003-8C22505FA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1. Типизация данных - используются кастомные ENUM-типы (`</a:t>
            </a:r>
            <a:r>
              <a:rPr lang="ru-RU" dirty="0" err="1"/>
              <a:t>equipment_type</a:t>
            </a:r>
            <a:r>
              <a:rPr lang="ru-RU" dirty="0"/>
              <a:t>`, `</a:t>
            </a:r>
            <a:r>
              <a:rPr lang="ru-RU" dirty="0" err="1"/>
              <a:t>difficulty_level</a:t>
            </a:r>
            <a:r>
              <a:rPr lang="ru-RU" dirty="0"/>
              <a:t>`, `</a:t>
            </a:r>
            <a:r>
              <a:rPr lang="ru-RU" dirty="0" err="1"/>
              <a:t>muscle_group</a:t>
            </a:r>
            <a:r>
              <a:rPr lang="ru-RU" dirty="0"/>
              <a:t>`), которые обеспечивают целостность на уровне БД</a:t>
            </a:r>
          </a:p>
          <a:p>
            <a:r>
              <a:rPr lang="ru-RU" dirty="0"/>
              <a:t>2. JSON-агрегация - `</a:t>
            </a:r>
            <a:r>
              <a:rPr lang="ru-RU" dirty="0" err="1"/>
              <a:t>json_agg</a:t>
            </a:r>
            <a:r>
              <a:rPr lang="ru-RU" dirty="0"/>
              <a:t>()`, `</a:t>
            </a:r>
            <a:r>
              <a:rPr lang="ru-RU" dirty="0" err="1"/>
              <a:t>json_build_object</a:t>
            </a:r>
            <a:r>
              <a:rPr lang="ru-RU" dirty="0"/>
              <a:t>()` для сборки вложенных объектов (тренировка → упражнения → подходы) в одном SQL-запросе</a:t>
            </a:r>
          </a:p>
          <a:p>
            <a:r>
              <a:rPr lang="ru-RU" dirty="0"/>
              <a:t>3. UUID - нативная поддержка `uuid_generate_v4()` через расширение `</a:t>
            </a:r>
            <a:r>
              <a:rPr lang="ru-RU" dirty="0" err="1"/>
              <a:t>uuid-ossp</a:t>
            </a:r>
            <a:r>
              <a:rPr lang="ru-RU" dirty="0"/>
              <a:t>`</a:t>
            </a:r>
          </a:p>
          <a:p>
            <a:r>
              <a:rPr lang="ru-RU" dirty="0"/>
              <a:t>4. Надёжность - ACID-транзакции для операций синхронизации, где нужно атомарно обработать несколько действий</a:t>
            </a:r>
          </a:p>
          <a:p>
            <a:r>
              <a:rPr lang="ru-RU" dirty="0"/>
              <a:t>5. Производительность - индексы на `</a:t>
            </a:r>
            <a:r>
              <a:rPr lang="ru-RU" dirty="0" err="1"/>
              <a:t>user_id</a:t>
            </a:r>
            <a:r>
              <a:rPr lang="ru-RU" dirty="0"/>
              <a:t>`, `</a:t>
            </a:r>
            <a:r>
              <a:rPr lang="ru-RU" dirty="0" err="1"/>
              <a:t>date</a:t>
            </a:r>
            <a:r>
              <a:rPr lang="ru-RU" dirty="0"/>
              <a:t>`, `</a:t>
            </a:r>
            <a:r>
              <a:rPr lang="ru-RU" dirty="0" err="1"/>
              <a:t>created_at</a:t>
            </a:r>
            <a:r>
              <a:rPr lang="ru-RU" dirty="0"/>
              <a:t> DESC` для быстрых выборок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63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BDCDD-00C5-4D91-13D5-240C2B36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sqlite3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1EDD86-3894-0251-6CA5-84E516C77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1. Встроена в </a:t>
            </a:r>
            <a:r>
              <a:rPr lang="ru-RU" dirty="0" err="1"/>
              <a:t>expo-sqlite</a:t>
            </a:r>
            <a:r>
              <a:rPr lang="ru-RU" dirty="0"/>
              <a:t> - нативный модуль, работает без дополнительных серверов</a:t>
            </a:r>
          </a:p>
          <a:p>
            <a:r>
              <a:rPr lang="ru-RU" dirty="0"/>
              <a:t>2. Мгновенный отклик - все чтения из локальной БД (0 мс задержки сети)</a:t>
            </a:r>
          </a:p>
          <a:p>
            <a:r>
              <a:rPr lang="ru-RU" dirty="0"/>
              <a:t>3. </a:t>
            </a:r>
            <a:r>
              <a:rPr lang="ru-RU" dirty="0" err="1"/>
              <a:t>Offline-firs</a:t>
            </a:r>
            <a:r>
              <a:rPr lang="ru-RU" dirty="0"/>
              <a:t> - приложение полностью работоспособно без интернета</a:t>
            </a:r>
          </a:p>
          <a:p>
            <a:r>
              <a:rPr lang="ru-RU" dirty="0"/>
              <a:t>4. Синхронизация - таблица `</a:t>
            </a:r>
            <a:r>
              <a:rPr lang="ru-RU" dirty="0" err="1"/>
              <a:t>sync_queue</a:t>
            </a:r>
            <a:r>
              <a:rPr lang="ru-RU" dirty="0"/>
              <a:t>` хранит оффлайн-мутации до отправки на сервер</a:t>
            </a:r>
          </a:p>
          <a:p>
            <a:r>
              <a:rPr lang="ru-RU" dirty="0"/>
              <a:t>5. Лёгкость — один файл `</a:t>
            </a:r>
            <a:r>
              <a:rPr lang="ru-RU" dirty="0" err="1"/>
              <a:t>fitapp.db</a:t>
            </a:r>
            <a:r>
              <a:rPr lang="ru-RU" dirty="0"/>
              <a:t>` на устройстве</a:t>
            </a:r>
          </a:p>
          <a:p>
            <a:r>
              <a:rPr lang="ru-RU" dirty="0"/>
              <a:t>Схема SQLite3 </a:t>
            </a:r>
            <a:r>
              <a:rPr lang="ru-RU" dirty="0" err="1"/>
              <a:t>зекралит</a:t>
            </a:r>
            <a:r>
              <a:rPr lang="ru-RU" dirty="0"/>
              <a:t> </a:t>
            </a:r>
            <a:r>
              <a:rPr lang="ru-RU" dirty="0" err="1"/>
              <a:t>сервеную</a:t>
            </a:r>
            <a:r>
              <a:rPr lang="ru-RU" dirty="0"/>
              <a:t> часть</a:t>
            </a:r>
          </a:p>
        </p:txBody>
      </p:sp>
    </p:spTree>
    <p:extLst>
      <p:ext uri="{BB962C8B-B14F-4D97-AF65-F5344CB8AC3E}">
        <p14:creationId xmlns:p14="http://schemas.microsoft.com/office/powerpoint/2010/main" val="1955780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D1A92-342B-072B-9901-94EC93B7D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dirty="0"/>
              <a:t>ER </a:t>
            </a:r>
            <a:r>
              <a:rPr lang="en-US" sz="3700" dirty="0" err="1"/>
              <a:t>диаграмма</a:t>
            </a:r>
            <a:r>
              <a:rPr lang="en-US" sz="3700" dirty="0"/>
              <a:t> </a:t>
            </a:r>
          </a:p>
        </p:txBody>
      </p:sp>
      <p:cxnSp>
        <p:nvCxnSpPr>
          <p:cNvPr id="34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Объект 34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517225-EC11-25AB-5FCA-ECCC22D96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5602" y="252668"/>
            <a:ext cx="7286964" cy="660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18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7209C-55EF-4ECC-8080-5017DE42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7" descr="Изображение выглядит как текст, снимок экрана, мультимеди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BA0D54-CD81-4580-A616-2B87EBC3D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938" y="647391"/>
            <a:ext cx="2348659" cy="3143364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715BF1A-910F-2701-2AF7-D8AD5B537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777" y="644773"/>
            <a:ext cx="2164012" cy="4356598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B9D85E-BD18-650D-B0C1-A25CC1833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312" y="696760"/>
            <a:ext cx="2343495" cy="5088072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030393-9468-E28A-C379-25ED86518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037" y="647183"/>
            <a:ext cx="2714625" cy="3305175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мультимеди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E9E609-69C2-E9D6-9305-6E4B5F5B1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858" y="1403332"/>
            <a:ext cx="2079319" cy="3206712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0401C0-C74D-4DFD-4C9F-8D039BFEE6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291" y="3791294"/>
            <a:ext cx="23812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40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627846-0B02-1E98-D6DA-A9004EAC6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br>
              <a:rPr lang="ru-RU" dirty="0"/>
            </a:br>
            <a:endParaRPr lang="ru-RU"/>
          </a:p>
        </p:txBody>
      </p:sp>
      <p:pic>
        <p:nvPicPr>
          <p:cNvPr id="10" name="Объект 9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D62363-80C9-EB54-93BB-324C937EB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704" y="1202932"/>
            <a:ext cx="1847439" cy="471305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26B811-8611-6725-543E-C8BFEB99F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37" y="1206633"/>
            <a:ext cx="2173077" cy="4444732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4D2284D-8488-91A2-408B-9D584450D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064" y="1052281"/>
            <a:ext cx="1824211" cy="4909507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A6B2A6-1A09-8189-9D33-CFC249A9C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1697" y="1649087"/>
            <a:ext cx="2439088" cy="356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21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DDFE6-3F95-495A-AF66-B95AB817A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Home screen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Объект 3" descr="Изображение выглядит как текст, снимок экрана, мультимеди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BEDC46-ED58-D12C-FF7B-0E45C4626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76" y="-10557"/>
            <a:ext cx="3553089" cy="686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06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730BF-223C-7E98-4DB0-F7D7D476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catalog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Объект 3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40D7FB-344C-4C9A-4948-DFD881E15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6425" y="7804"/>
            <a:ext cx="3398488" cy="686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53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23A78-AD9E-7D43-2BF5-35CA4E9DD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My workout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Объект 3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451DED-E710-E4C7-D14B-59CB21E86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3192" y="-4481"/>
            <a:ext cx="3345761" cy="686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94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41A9C7-628F-674B-6E57-04BF2F930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Run workout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Объект 3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39A2D2-2CAC-3504-767F-2B85612B7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2496" y="-4481"/>
            <a:ext cx="3447006" cy="686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59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мультимедиа, Мобильный телеф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B96E1E-3787-DD51-A8CD-0044DAD75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581"/>
          <a:stretch>
            <a:fillRect/>
          </a:stretch>
        </p:blipFill>
        <p:spPr>
          <a:xfrm>
            <a:off x="800100" y="723900"/>
            <a:ext cx="10591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75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78075BE-4130-4D6A-B0EB-6397ED5E5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снимок экрана, программное обеспечение, Мультимедийное программное обеспечение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60647E-93B8-65E2-ABD0-CF7016433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924"/>
          <a:stretch>
            <a:fillRect/>
          </a:stretch>
        </p:blipFill>
        <p:spPr>
          <a:xfrm>
            <a:off x="800100" y="723899"/>
            <a:ext cx="10591800" cy="542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73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7820AC-D398-B3AD-566E-7618D828B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414" t="9091" r="1630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87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7F5C02-6953-FF7F-EC59-897E75BA0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999" b="-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29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EDE47-C1FB-D20F-FC7E-6F95F001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Qr</a:t>
            </a:r>
            <a:r>
              <a:rPr lang="ru-RU" dirty="0"/>
              <a:t> коды </a:t>
            </a:r>
          </a:p>
        </p:txBody>
      </p:sp>
      <p:pic>
        <p:nvPicPr>
          <p:cNvPr id="4" name="Объект 3" descr="Изображение выглядит как шаблон, пиксель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B5F3D7-54AD-AA2A-F9DB-9D0D7505B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706" y="1719118"/>
            <a:ext cx="2530186" cy="25301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6F4DA3-DE74-87CE-8867-FAC73E5D4B5E}"/>
              </a:ext>
            </a:extLst>
          </p:cNvPr>
          <p:cNvSpPr txBox="1"/>
          <p:nvPr/>
        </p:nvSpPr>
        <p:spPr>
          <a:xfrm>
            <a:off x="1356187" y="4155551"/>
            <a:ext cx="18810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 err="1"/>
              <a:t>GitHub</a:t>
            </a:r>
          </a:p>
        </p:txBody>
      </p:sp>
      <p:pic>
        <p:nvPicPr>
          <p:cNvPr id="6" name="Рисунок 5" descr="Изображение выглядит как шаблон, пиксель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3DD6CC-3CF5-F7C8-3E51-E3837C151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129" y="1619621"/>
            <a:ext cx="2530185" cy="2540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2CAA21-7A25-A485-7765-C0F66FD3ED59}"/>
              </a:ext>
            </a:extLst>
          </p:cNvPr>
          <p:cNvSpPr txBox="1"/>
          <p:nvPr/>
        </p:nvSpPr>
        <p:spPr>
          <a:xfrm>
            <a:off x="5156290" y="4056590"/>
            <a:ext cx="18810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/>
              <a:t>Вебсайт</a:t>
            </a:r>
          </a:p>
        </p:txBody>
      </p:sp>
      <p:pic>
        <p:nvPicPr>
          <p:cNvPr id="8" name="Рисунок 7" descr="Изображение выглядит как шаблон, пикс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25E54F5-6569-1B8C-6292-C01929AD4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439" y="1532906"/>
            <a:ext cx="2535382" cy="25254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BCF988-76DC-F2B9-18ED-75D5D581791C}"/>
              </a:ext>
            </a:extLst>
          </p:cNvPr>
          <p:cNvSpPr txBox="1"/>
          <p:nvPr/>
        </p:nvSpPr>
        <p:spPr>
          <a:xfrm>
            <a:off x="8590238" y="3967525"/>
            <a:ext cx="25341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Загрузка мобильного приложения </a:t>
            </a:r>
          </a:p>
        </p:txBody>
      </p:sp>
    </p:spTree>
    <p:extLst>
      <p:ext uri="{BB962C8B-B14F-4D97-AF65-F5344CB8AC3E}">
        <p14:creationId xmlns:p14="http://schemas.microsoft.com/office/powerpoint/2010/main" val="531778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кот, домашняя кошка, Мелкие и средние кошки, Кошачь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821569-8A10-70F5-1DF8-241272B79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08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ChronicleVTI</vt:lpstr>
      <vt:lpstr>Каталог упражнений с возможностью создания своих тренировок</vt:lpstr>
      <vt:lpstr>Easyfit - ваш путь к здоровому образу жизни</vt:lpstr>
      <vt:lpstr>Что умеет easyfit</vt:lpstr>
      <vt:lpstr>Актуальность проект </vt:lpstr>
      <vt:lpstr>По данным ВОЗ</vt:lpstr>
      <vt:lpstr>Эффективность фитнес приложений</vt:lpstr>
      <vt:lpstr>Данные об использовании подобных сервисов</vt:lpstr>
      <vt:lpstr>Стек разработки </vt:lpstr>
      <vt:lpstr>Тип архитектуры</vt:lpstr>
      <vt:lpstr>Почему не микросервисы или чистый монолит</vt:lpstr>
      <vt:lpstr>Структура монолита</vt:lpstr>
      <vt:lpstr>База данных и обоснования выбора</vt:lpstr>
      <vt:lpstr>Почему postgre</vt:lpstr>
      <vt:lpstr>Почему sqlite3</vt:lpstr>
      <vt:lpstr>ER диаграмма </vt:lpstr>
      <vt:lpstr>Презентация PowerPoint</vt:lpstr>
      <vt:lpstr>  </vt:lpstr>
      <vt:lpstr>Home screen</vt:lpstr>
      <vt:lpstr>catalog</vt:lpstr>
      <vt:lpstr>My workout</vt:lpstr>
      <vt:lpstr>Run workout</vt:lpstr>
      <vt:lpstr>Презентация PowerPoint</vt:lpstr>
      <vt:lpstr>Презентация PowerPoint</vt:lpstr>
      <vt:lpstr>Презентация PowerPoint</vt:lpstr>
      <vt:lpstr>Презентация PowerPoint</vt:lpstr>
      <vt:lpstr>Qr коды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405</cp:revision>
  <dcterms:created xsi:type="dcterms:W3CDTF">2026-02-28T03:11:08Z</dcterms:created>
  <dcterms:modified xsi:type="dcterms:W3CDTF">2026-02-28T07:11:25Z</dcterms:modified>
</cp:coreProperties>
</file>